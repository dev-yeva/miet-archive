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57" r:id="rId3"/>
    <p:sldId id="272" r:id="rId4"/>
    <p:sldId id="268" r:id="rId5"/>
    <p:sldId id="258" r:id="rId6"/>
    <p:sldId id="273" r:id="rId7"/>
    <p:sldId id="280" r:id="rId8"/>
    <p:sldId id="260" r:id="rId9"/>
    <p:sldId id="261" r:id="rId10"/>
    <p:sldId id="263" r:id="rId11"/>
    <p:sldId id="274" r:id="rId12"/>
    <p:sldId id="269" r:id="rId13"/>
    <p:sldId id="275" r:id="rId14"/>
    <p:sldId id="270" r:id="rId15"/>
    <p:sldId id="276" r:id="rId16"/>
    <p:sldId id="271" r:id="rId17"/>
    <p:sldId id="277" r:id="rId18"/>
    <p:sldId id="278" r:id="rId19"/>
    <p:sldId id="265" r:id="rId20"/>
    <p:sldId id="279" r:id="rId21"/>
    <p:sldId id="267" r:id="rId22"/>
  </p:sldIdLst>
  <p:sldSz cx="9144000" cy="6858000" type="screen4x3"/>
  <p:notesSz cx="7102475" cy="102346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5" autoAdjust="0"/>
    <p:restoredTop sz="94660"/>
  </p:normalViewPr>
  <p:slideViewPr>
    <p:cSldViewPr>
      <p:cViewPr varScale="1">
        <p:scale>
          <a:sx n="59" d="100"/>
          <a:sy n="59" d="100"/>
        </p:scale>
        <p:origin x="14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5110C2D4-3B3F-4533-BC0C-B12B214087B8}" type="datetimeFigureOut">
              <a:rPr lang="ru-RU" smtClean="0"/>
              <a:pPr/>
              <a:t>23.05.2026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62AA8666-9136-4E1F-A94E-54F060B1F2A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CE-C28F-4669-83E8-36317ECD16B1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9CF3-D192-4395-942D-B35203FA06A7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B367-07B7-4DF6-939B-3682989008FC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A5F4-4936-4E11-866C-CE842388EC46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7E66-CC3C-42D9-8550-6714848DC9F0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F90E-0CD8-4BFF-BF47-4E207E93FB23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6462-F72A-4330-8FAD-CE4689F0DD78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7D9F-22FD-4437-82EC-6E39E6812ACD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19B88-157B-409A-94B9-AF3CB31A67BA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D7FE-A679-4C8F-B1CA-60621E1935C1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B86AB-5A88-4409-BDC6-1DBA5A13C1CA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1F1F181-70EF-4489-AAE6-A61EF7B52265}" type="datetime1">
              <a:rPr lang="ru-RU" smtClean="0"/>
              <a:pPr/>
              <a:t>23.05.2026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12776"/>
            <a:ext cx="7851648" cy="216024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Результаты этапа междисциплинарного проекта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3789040"/>
            <a:ext cx="8423944" cy="792088"/>
          </a:xfrm>
        </p:spPr>
        <p:txBody>
          <a:bodyPr>
            <a:normAutofit fontScale="92500"/>
          </a:bodyPr>
          <a:lstStyle/>
          <a:p>
            <a:pPr algn="ctr"/>
            <a:r>
              <a:rPr lang="ru-RU" dirty="0"/>
              <a:t>Дисциплина: «Проектирование информационных систем»</a:t>
            </a:r>
            <a:endParaRPr lang="ru-RU" sz="2400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539552" y="5229200"/>
            <a:ext cx="8423944" cy="1008112"/>
          </a:xfrm>
          <a:prstGeom prst="rect">
            <a:avLst/>
          </a:prstGeom>
        </p:spPr>
        <p:txBody>
          <a:bodyPr vert="horz" lIns="0" rIns="18288">
            <a:normAutofit/>
          </a:bodyPr>
          <a:lstStyle/>
          <a:p>
            <a:pPr marL="0" marR="4572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ru-RU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Студент </a:t>
            </a:r>
            <a:r>
              <a:rPr lang="ru-RU" sz="2600" dirty="0"/>
              <a:t>ПИН-25</a:t>
            </a:r>
            <a:r>
              <a:rPr kumimoji="0" lang="ru-RU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Гематоген Половник</a:t>
            </a:r>
          </a:p>
          <a:p>
            <a:pPr marL="0" marR="4572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ru-RU" sz="2600" dirty="0"/>
              <a:t>Преподаватель: Аксёнова Елена Алексеевна</a:t>
            </a:r>
            <a:endParaRPr kumimoji="0" lang="ru-RU" sz="26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4572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07904" y="6309320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Федеральное государственное автономное образовательное учреждение</a:t>
            </a:r>
            <a:br>
              <a:rPr lang="ru-RU" b="1" dirty="0"/>
            </a:br>
            <a:r>
              <a:rPr lang="ru-RU" b="1" dirty="0"/>
              <a:t>высшего образования «Национальный исследовательский университет</a:t>
            </a:r>
            <a:br>
              <a:rPr lang="ru-RU" b="1" dirty="0"/>
            </a:br>
            <a:r>
              <a:rPr lang="ru-RU" b="1" dirty="0"/>
              <a:t>«Московский институт электронной техники»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  <p:transition>
    <p:spli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785242"/>
          </a:xfrm>
        </p:spPr>
        <p:txBody>
          <a:bodyPr>
            <a:normAutofit/>
          </a:bodyPr>
          <a:lstStyle/>
          <a:p>
            <a:r>
              <a:rPr lang="ru-RU" sz="4000" dirty="0"/>
              <a:t>Задание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2032"/>
          </a:xfrm>
        </p:spPr>
        <p:txBody>
          <a:bodyPr>
            <a:normAutofit/>
          </a:bodyPr>
          <a:lstStyle/>
          <a:p>
            <a:r>
              <a:rPr lang="ru-RU" dirty="0"/>
              <a:t>Разработать информационную систему для записи в парикмахерскую</a:t>
            </a:r>
          </a:p>
          <a:p>
            <a:r>
              <a:rPr lang="ru-RU" dirty="0"/>
              <a:t>Выполнить анализ предметной области и собрать требования</a:t>
            </a:r>
          </a:p>
          <a:p>
            <a:r>
              <a:rPr lang="ru-RU" dirty="0"/>
              <a:t>Построить модели бизнес-процессов </a:t>
            </a:r>
            <a:r>
              <a:rPr lang="en-US" dirty="0"/>
              <a:t>AS-IS </a:t>
            </a:r>
            <a:r>
              <a:rPr lang="ru-RU" dirty="0"/>
              <a:t>и </a:t>
            </a:r>
            <a:r>
              <a:rPr lang="en-US" dirty="0"/>
              <a:t>TO-BE</a:t>
            </a:r>
            <a:endParaRPr lang="ru-RU" dirty="0"/>
          </a:p>
          <a:p>
            <a:r>
              <a:rPr lang="ru-RU" dirty="0"/>
              <a:t>Построить UML-модели</a:t>
            </a:r>
            <a:r>
              <a:rPr lang="en-US" dirty="0"/>
              <a:t>, </a:t>
            </a:r>
            <a:r>
              <a:rPr lang="ru-RU" dirty="0"/>
              <a:t>базу данных</a:t>
            </a:r>
            <a:endParaRPr lang="en-US" dirty="0"/>
          </a:p>
          <a:p>
            <a:r>
              <a:rPr lang="ru-RU" dirty="0"/>
              <a:t>Подготовить документацию по ГОСТ 34.602-89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ransition>
    <p:spli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работы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Разработать ИС онлайн-записи клиентов</a:t>
            </a:r>
          </a:p>
          <a:p>
            <a:r>
              <a:rPr lang="ru-RU" dirty="0"/>
              <a:t>Реализовать календарь с управлением расписанием мастеров</a:t>
            </a:r>
          </a:p>
          <a:p>
            <a:r>
              <a:rPr lang="ru-RU" dirty="0"/>
              <a:t>Создать карточку клиентов с историей посещений </a:t>
            </a:r>
          </a:p>
          <a:p>
            <a:r>
              <a:rPr lang="ru-RU" dirty="0"/>
              <a:t>Внедрить систему напоминаний о записи</a:t>
            </a:r>
          </a:p>
          <a:p>
            <a:r>
              <a:rPr lang="ru-RU" dirty="0"/>
              <a:t>Добавить учет расходных материалов на услугу</a:t>
            </a:r>
          </a:p>
          <a:p>
            <a:r>
              <a:rPr lang="ru-RU" dirty="0"/>
              <a:t>Исключить ручное формирование статистики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143000"/>
          </a:xfrm>
        </p:spPr>
        <p:txBody>
          <a:bodyPr/>
          <a:lstStyle/>
          <a:p>
            <a:r>
              <a:rPr lang="ru-RU" dirty="0"/>
              <a:t>План проекта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ЛР1: анализ предметной области и сбор требований</a:t>
            </a:r>
          </a:p>
          <a:p>
            <a:r>
              <a:rPr lang="ru-RU" dirty="0"/>
              <a:t>ЛР2: моделирование процессов </a:t>
            </a:r>
            <a:r>
              <a:rPr lang="en-US" dirty="0"/>
              <a:t>AS-IS </a:t>
            </a:r>
            <a:r>
              <a:rPr lang="ru-RU" dirty="0"/>
              <a:t>и </a:t>
            </a:r>
            <a:r>
              <a:rPr lang="en-US" dirty="0"/>
              <a:t>TO-BE </a:t>
            </a:r>
            <a:endParaRPr lang="ru-RU" dirty="0"/>
          </a:p>
          <a:p>
            <a:r>
              <a:rPr lang="ru-RU" dirty="0"/>
              <a:t>ЛР3: проектирование базы данных</a:t>
            </a:r>
          </a:p>
          <a:p>
            <a:r>
              <a:rPr lang="ru-RU" dirty="0"/>
              <a:t>ЛР4: проектирование интерфейса и API</a:t>
            </a:r>
          </a:p>
          <a:p>
            <a:r>
              <a:rPr lang="ru-RU" dirty="0"/>
              <a:t>ЛР5</a:t>
            </a:r>
            <a:r>
              <a:rPr lang="en-US" dirty="0"/>
              <a:t>: </a:t>
            </a:r>
            <a:r>
              <a:rPr lang="ru-RU" dirty="0"/>
              <a:t>техническое задание </a:t>
            </a:r>
            <a:r>
              <a:rPr lang="en-US" dirty="0"/>
              <a:t> </a:t>
            </a:r>
            <a:r>
              <a:rPr lang="ru-RU" dirty="0"/>
              <a:t>по ГОСТ 34.602-89</a:t>
            </a:r>
            <a:endParaRPr lang="en-US" dirty="0"/>
          </a:p>
          <a:p>
            <a:r>
              <a:rPr lang="ru-RU" dirty="0"/>
              <a:t>ЛР6: UML-</a:t>
            </a:r>
            <a:r>
              <a:rPr lang="ru-RU" dirty="0" err="1"/>
              <a:t>диаграмы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7494"/>
            <a:ext cx="8640960" cy="1649338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Модель бизнес-процессов после автоматизации</a:t>
            </a:r>
            <a:br>
              <a:rPr lang="ru-RU" dirty="0"/>
            </a:b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Клиент записывается через онлайн-форму или мобильное приложение</a:t>
            </a:r>
          </a:p>
          <a:p>
            <a:r>
              <a:rPr lang="ru-RU" dirty="0"/>
              <a:t>Система автоматически проверяет свободные часы</a:t>
            </a:r>
          </a:p>
          <a:p>
            <a:r>
              <a:rPr lang="ru-RU" dirty="0"/>
              <a:t>Формируется актуальное расписание в реальном времени </a:t>
            </a:r>
          </a:p>
          <a:p>
            <a:r>
              <a:rPr lang="ru-RU" dirty="0"/>
              <a:t>Напоминания клиенту о сеансе отправляются автоматически</a:t>
            </a:r>
          </a:p>
          <a:p>
            <a:r>
              <a:rPr lang="ru-RU" dirty="0"/>
              <a:t>Мастер получает уведомление о</a:t>
            </a:r>
            <a:r>
              <a:rPr lang="en-US" dirty="0"/>
              <a:t> </a:t>
            </a:r>
            <a:r>
              <a:rPr lang="ru-RU" dirty="0"/>
              <a:t>занятии или отмене окна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  <p:transition>
    <p:spli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143000"/>
          </a:xfrm>
        </p:spPr>
        <p:txBody>
          <a:bodyPr/>
          <a:lstStyle/>
          <a:p>
            <a:r>
              <a:rPr lang="ru-RU" dirty="0"/>
              <a:t>Диаграммы процессов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718EAE-446F-464D-784A-583C930F49D2}"/>
              </a:ext>
            </a:extLst>
          </p:cNvPr>
          <p:cNvSpPr txBox="1"/>
          <p:nvPr/>
        </p:nvSpPr>
        <p:spPr>
          <a:xfrm>
            <a:off x="1474653" y="1377956"/>
            <a:ext cx="4752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Процесс записи в парикмахерскую </a:t>
            </a:r>
            <a:r>
              <a:rPr lang="en-US" dirty="0"/>
              <a:t>AS-IS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62BFFC-0769-9F44-FB4A-0CCDA3A8EAD7}"/>
              </a:ext>
            </a:extLst>
          </p:cNvPr>
          <p:cNvSpPr txBox="1"/>
          <p:nvPr/>
        </p:nvSpPr>
        <p:spPr>
          <a:xfrm>
            <a:off x="1510488" y="3938394"/>
            <a:ext cx="4538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Процесс записи в парикмахерскую </a:t>
            </a:r>
            <a:r>
              <a:rPr lang="en-US" dirty="0"/>
              <a:t>TO-BE</a:t>
            </a:r>
            <a:endParaRPr lang="ru-RU" dirty="0"/>
          </a:p>
        </p:txBody>
      </p:sp>
      <p:pic>
        <p:nvPicPr>
          <p:cNvPr id="5" name="Рисунок 4" descr="Изображение выглядит как диаграмма, линия, снимок экрана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A110E4D-13CF-8361-89F6-364EB7FDEB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123" y="1698329"/>
            <a:ext cx="5940425" cy="2145665"/>
          </a:xfrm>
          <a:prstGeom prst="rect">
            <a:avLst/>
          </a:prstGeom>
        </p:spPr>
      </p:pic>
      <p:pic>
        <p:nvPicPr>
          <p:cNvPr id="7" name="Рисунок 6" descr="Изображение выглядит как диаграмма, линия, снимок экрана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61EE9FB-52A9-53E9-F211-4A36FB6291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97" y="4379679"/>
            <a:ext cx="5940425" cy="214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07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143000"/>
          </a:xfrm>
        </p:spPr>
        <p:txBody>
          <a:bodyPr/>
          <a:lstStyle/>
          <a:p>
            <a:r>
              <a:rPr lang="ru-RU" dirty="0"/>
              <a:t>Диаграммы процессов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718EAE-446F-464D-784A-583C930F49D2}"/>
              </a:ext>
            </a:extLst>
          </p:cNvPr>
          <p:cNvSpPr txBox="1"/>
          <p:nvPr/>
        </p:nvSpPr>
        <p:spPr>
          <a:xfrm>
            <a:off x="1564944" y="1295452"/>
            <a:ext cx="4752528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Процесс отмены записи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/>
              <a:t>AS-IS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040D98-17C5-4A26-853F-286406117B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591" y="1700809"/>
            <a:ext cx="5947991" cy="2143186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636222C-281D-EB7B-8892-74505F206E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927" y="4213165"/>
            <a:ext cx="6181425" cy="23069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3D0736-E111-F724-B42C-F4BEC54449C7}"/>
              </a:ext>
            </a:extLst>
          </p:cNvPr>
          <p:cNvSpPr txBox="1"/>
          <p:nvPr/>
        </p:nvSpPr>
        <p:spPr>
          <a:xfrm>
            <a:off x="1547664" y="3861507"/>
            <a:ext cx="468052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Процесс отмены записи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/>
              <a:t>TO-BE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1E25E0DB-B76D-8E7D-6AC2-0B83511CFE08}"/>
              </a:ext>
            </a:extLst>
          </p:cNvPr>
          <p:cNvSpPr txBox="1">
            <a:spLocks/>
          </p:cNvSpPr>
          <p:nvPr/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5C68B6-61C2-468F-89AB-4B9F7531AA6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461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928992" cy="1008112"/>
          </a:xfrm>
        </p:spPr>
        <p:txBody>
          <a:bodyPr>
            <a:noAutofit/>
          </a:bodyPr>
          <a:lstStyle/>
          <a:p>
            <a:r>
              <a:rPr lang="ru-RU" sz="3000" dirty="0"/>
              <a:t>Требования к информационной системе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Содержимое 3">
            <a:extLst>
              <a:ext uri="{FF2B5EF4-FFF2-40B4-BE49-F238E27FC236}">
                <a16:creationId xmlns:a16="http://schemas.microsoft.com/office/drawing/2014/main" id="{3EB11A09-C84C-EEEE-4BA9-F193D4EC6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Разграничение прав доступа</a:t>
            </a:r>
          </a:p>
          <a:p>
            <a:r>
              <a:rPr lang="ru-RU" dirty="0"/>
              <a:t>Доступность системы 24/7</a:t>
            </a:r>
          </a:p>
          <a:p>
            <a:r>
              <a:rPr lang="ru-RU" dirty="0"/>
              <a:t>Резервное копирование БД</a:t>
            </a:r>
          </a:p>
          <a:p>
            <a:r>
              <a:rPr lang="ru-RU" dirty="0"/>
              <a:t>Формирование отчетов и аналитики</a:t>
            </a:r>
          </a:p>
          <a:p>
            <a:r>
              <a:rPr lang="ru-RU" dirty="0"/>
              <a:t>Автоматическое обновление расписания при создании, переносе или отмене записи</a:t>
            </a:r>
          </a:p>
          <a:p>
            <a:r>
              <a:rPr lang="ru-RU" dirty="0"/>
              <a:t>Возможность клиента самостоятельно отменить запись</a:t>
            </a:r>
          </a:p>
          <a:p>
            <a:r>
              <a:rPr lang="ru-RU" dirty="0"/>
              <a:t>Запрет двойных записей и конфликтов времени на системном уровне</a:t>
            </a:r>
          </a:p>
        </p:txBody>
      </p:sp>
    </p:spTree>
  </p:cSld>
  <p:clrMapOvr>
    <a:masterClrMapping/>
  </p:clrMapOvr>
  <p:transition>
    <p:spli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48072"/>
          </a:xfrm>
        </p:spPr>
        <p:txBody>
          <a:bodyPr/>
          <a:lstStyle/>
          <a:p>
            <a:pPr>
              <a:buNone/>
            </a:pPr>
            <a:r>
              <a:rPr lang="ru-RU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Функциональная модель ИС</a:t>
            </a:r>
          </a:p>
          <a:p>
            <a:endParaRPr lang="ru-RU" sz="2000" i="1" dirty="0"/>
          </a:p>
          <a:p>
            <a:endParaRPr lang="ru-RU" sz="2000" dirty="0"/>
          </a:p>
          <a:p>
            <a:endParaRPr lang="ru-RU" b="1" dirty="0"/>
          </a:p>
          <a:p>
            <a:endParaRPr lang="ru-RU" b="1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6" name="Содержимое 3">
            <a:extLst>
              <a:ext uri="{FF2B5EF4-FFF2-40B4-BE49-F238E27FC236}">
                <a16:creationId xmlns:a16="http://schemas.microsoft.com/office/drawing/2014/main" id="{A3257977-D875-B6AB-446A-EAAED72C7C1F}"/>
              </a:ext>
            </a:extLst>
          </p:cNvPr>
          <p:cNvSpPr txBox="1">
            <a:spLocks/>
          </p:cNvSpPr>
          <p:nvPr/>
        </p:nvSpPr>
        <p:spPr>
          <a:xfrm>
            <a:off x="454089" y="1772816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Подсистема входа и авторизации</a:t>
            </a:r>
          </a:p>
          <a:p>
            <a:r>
              <a:rPr lang="ru-RU" dirty="0"/>
              <a:t>Подсистема записей</a:t>
            </a:r>
          </a:p>
          <a:p>
            <a:r>
              <a:rPr lang="ru-RU" dirty="0"/>
              <a:t>Подсистема отмены записей</a:t>
            </a:r>
          </a:p>
          <a:p>
            <a:r>
              <a:rPr lang="ru-RU" dirty="0"/>
              <a:t>Подсистема уведомлений</a:t>
            </a:r>
          </a:p>
          <a:p>
            <a:r>
              <a:rPr lang="ru-RU" dirty="0"/>
              <a:t>Подсистема аналитики и отчетов</a:t>
            </a:r>
          </a:p>
          <a:p>
            <a:r>
              <a:rPr lang="ru-RU" dirty="0"/>
              <a:t>Административная подсистема</a:t>
            </a:r>
          </a:p>
          <a:p>
            <a:r>
              <a:rPr lang="ru-RU" dirty="0"/>
              <a:t>Роли системы: клиент, парикмахер, администратор,</a:t>
            </a:r>
          </a:p>
          <a:p>
            <a:r>
              <a:rPr lang="ru-RU" dirty="0"/>
              <a:t>Каждый пользователь работает в рамках своих прав</a:t>
            </a:r>
          </a:p>
        </p:txBody>
      </p:sp>
    </p:spTree>
  </p:cSld>
  <p:clrMapOvr>
    <a:masterClrMapping/>
  </p:clrMapOvr>
  <p:transition>
    <p:spli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12968" cy="576064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Информационная модель</a:t>
            </a:r>
            <a:endParaRPr lang="ru-RU" dirty="0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3" name="Содержимое 3">
            <a:extLst>
              <a:ext uri="{FF2B5EF4-FFF2-40B4-BE49-F238E27FC236}">
                <a16:creationId xmlns:a16="http://schemas.microsoft.com/office/drawing/2014/main" id="{46709647-7FEC-9194-E396-4486F92CAB31}"/>
              </a:ext>
            </a:extLst>
          </p:cNvPr>
          <p:cNvSpPr txBox="1">
            <a:spLocks/>
          </p:cNvSpPr>
          <p:nvPr/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Основные сущности: клиент, запись, услуга, уведомление о записи, парикмахер</a:t>
            </a:r>
          </a:p>
          <a:p>
            <a:r>
              <a:rPr lang="ru-RU" dirty="0"/>
              <a:t>Запись - ключевая сущность системы</a:t>
            </a:r>
          </a:p>
          <a:p>
            <a:r>
              <a:rPr lang="ru-RU" dirty="0"/>
              <a:t>Типы услуг: окрашивание, стрижка</a:t>
            </a:r>
          </a:p>
          <a:p>
            <a:r>
              <a:rPr lang="ru-RU" dirty="0"/>
              <a:t>Связи реализованы через внешние ключи</a:t>
            </a:r>
          </a:p>
          <a:p>
            <a:r>
              <a:rPr lang="ru-RU" dirty="0"/>
              <a:t>Модель приведена к 3НФ</a:t>
            </a:r>
          </a:p>
        </p:txBody>
      </p:sp>
    </p:spTree>
  </p:cSld>
  <p:clrMapOvr>
    <a:masterClrMapping/>
  </p:clrMapOvr>
  <p:transition>
    <p:spli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12968" cy="576064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Информационная модель</a:t>
            </a:r>
            <a:endParaRPr lang="ru-RU" dirty="0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3" name="Рисунок 2" descr="Изображение выглядит как текст, снимок экран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C45762D-ABA5-7D68-F154-FB8E2217E2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16" y="1393617"/>
            <a:ext cx="8450967" cy="455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112281"/>
      </p:ext>
    </p:extLst>
  </p:cSld>
  <p:clrMapOvr>
    <a:masterClrMapping/>
  </p:clrMapOvr>
  <p:transition>
    <p:spli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12968" cy="576064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Модель взаимодействия объектов системы</a:t>
            </a:r>
            <a:endParaRPr lang="ru-RU" dirty="0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3" name="Содержимое 3">
            <a:extLst>
              <a:ext uri="{FF2B5EF4-FFF2-40B4-BE49-F238E27FC236}">
                <a16:creationId xmlns:a16="http://schemas.microsoft.com/office/drawing/2014/main" id="{B446D997-2D67-66A0-23F5-8A116ED37EF2}"/>
              </a:ext>
            </a:extLst>
          </p:cNvPr>
          <p:cNvSpPr txBox="1">
            <a:spLocks/>
          </p:cNvSpPr>
          <p:nvPr/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Сценарий: запись на прием</a:t>
            </a:r>
          </a:p>
          <a:p>
            <a:r>
              <a:rPr lang="ru-RU" dirty="0"/>
              <a:t>Клиент заходит в приложение или на сайт</a:t>
            </a:r>
          </a:p>
          <a:p>
            <a:r>
              <a:rPr lang="ru-RU" dirty="0"/>
              <a:t>Клиент заполняет форму для записи</a:t>
            </a:r>
          </a:p>
          <a:p>
            <a:r>
              <a:rPr lang="ru-RU" dirty="0"/>
              <a:t>Клиент нажимает создать запись</a:t>
            </a:r>
          </a:p>
          <a:p>
            <a:r>
              <a:rPr lang="ru-RU" dirty="0"/>
              <a:t>Мастеру приходит уведомление о записи</a:t>
            </a:r>
          </a:p>
        </p:txBody>
      </p:sp>
    </p:spTree>
  </p:cSld>
  <p:clrMapOvr>
    <a:masterClrMapping/>
  </p:clrMapOvr>
  <p:transition>
    <p:spli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12968" cy="576064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Модель взаимодействия объектов системы</a:t>
            </a:r>
            <a:endParaRPr lang="ru-RU" dirty="0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1B0390-849A-0529-4590-6C07E8B26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6408" y="980728"/>
            <a:ext cx="4411184" cy="554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88613"/>
      </p:ext>
    </p:extLst>
  </p:cSld>
  <p:clrMapOvr>
    <a:masterClrMapping/>
  </p:clrMapOvr>
  <p:transition>
    <p:spli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12968" cy="576064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Модель деятельности прецедента</a:t>
            </a:r>
            <a:endParaRPr lang="ru-RU" dirty="0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3" name="Содержимое 3">
            <a:extLst>
              <a:ext uri="{FF2B5EF4-FFF2-40B4-BE49-F238E27FC236}">
                <a16:creationId xmlns:a16="http://schemas.microsoft.com/office/drawing/2014/main" id="{36F5F756-8DBB-6F7B-5B68-C9E3FFF33B91}"/>
              </a:ext>
            </a:extLst>
          </p:cNvPr>
          <p:cNvSpPr txBox="1">
            <a:spLocks/>
          </p:cNvSpPr>
          <p:nvPr/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Клиент входит</a:t>
            </a:r>
            <a:r>
              <a:rPr lang="en-US" dirty="0"/>
              <a:t>/</a:t>
            </a:r>
            <a:r>
              <a:rPr lang="ru-RU" dirty="0"/>
              <a:t>авторизуется</a:t>
            </a:r>
          </a:p>
          <a:p>
            <a:r>
              <a:rPr lang="ru-RU" dirty="0"/>
              <a:t>Открывает виджет записи</a:t>
            </a:r>
          </a:p>
          <a:p>
            <a:r>
              <a:rPr lang="ru-RU" dirty="0"/>
              <a:t>Выбирает услугу и мастера</a:t>
            </a:r>
          </a:p>
          <a:p>
            <a:r>
              <a:rPr lang="ru-RU" dirty="0"/>
              <a:t>Проверяется доступность мастера</a:t>
            </a:r>
          </a:p>
          <a:p>
            <a:r>
              <a:rPr lang="ru-RU" dirty="0"/>
              <a:t>Запись создается и сохраняется в БД</a:t>
            </a:r>
          </a:p>
          <a:p>
            <a:r>
              <a:rPr lang="ru-RU" dirty="0"/>
              <a:t>Отправляется уведомление мастеру</a:t>
            </a:r>
          </a:p>
          <a:p>
            <a:r>
              <a:rPr lang="ru-RU" dirty="0"/>
              <a:t>Показывается подтверждение клиенту</a:t>
            </a:r>
          </a:p>
        </p:txBody>
      </p:sp>
    </p:spTree>
  </p:cSld>
  <p:clrMapOvr>
    <a:masterClrMapping/>
  </p:clrMapOvr>
  <p:transition>
    <p:spli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12968" cy="576064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Модель деятельности прецедента</a:t>
            </a:r>
            <a:endParaRPr lang="ru-RU" dirty="0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8E7BDD-A72A-AD96-7FCA-B7C1980C5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0840" y="1052736"/>
            <a:ext cx="5622319" cy="554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72068"/>
      </p:ext>
    </p:extLst>
  </p:cSld>
  <p:clrMapOvr>
    <a:masterClrMapping/>
  </p:clrMapOvr>
  <p:transition>
    <p:spli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179512" y="116632"/>
            <a:ext cx="8712968" cy="576064"/>
          </a:xfrm>
          <a:prstGeom prst="rect">
            <a:avLst/>
          </a:prstGeom>
        </p:spPr>
        <p:txBody>
          <a:bodyPr>
            <a:normAutofit fontScale="90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Архитектура ИС</a:t>
            </a:r>
            <a:endParaRPr kumimoji="0" lang="ru-RU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Содержимое 3">
            <a:extLst>
              <a:ext uri="{FF2B5EF4-FFF2-40B4-BE49-F238E27FC236}">
                <a16:creationId xmlns:a16="http://schemas.microsoft.com/office/drawing/2014/main" id="{CD084304-1AC4-A2B4-7EA2-107DA9CD74CB}"/>
              </a:ext>
            </a:extLst>
          </p:cNvPr>
          <p:cNvSpPr txBox="1">
            <a:spLocks/>
          </p:cNvSpPr>
          <p:nvPr/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Клиентская часть: Браузер с </a:t>
            </a:r>
            <a:r>
              <a:rPr lang="en-US" dirty="0"/>
              <a:t>JS</a:t>
            </a:r>
            <a:endParaRPr lang="ru-RU" dirty="0"/>
          </a:p>
          <a:p>
            <a:r>
              <a:rPr lang="ru-RU" dirty="0"/>
              <a:t>Серверная часть: </a:t>
            </a:r>
            <a:r>
              <a:rPr lang="en-US" dirty="0"/>
              <a:t>Golang + </a:t>
            </a:r>
            <a:r>
              <a:rPr lang="ru-RU" dirty="0"/>
              <a:t>REST API</a:t>
            </a:r>
          </a:p>
          <a:p>
            <a:r>
              <a:rPr lang="ru-RU" dirty="0"/>
              <a:t>База данных: </a:t>
            </a:r>
            <a:r>
              <a:rPr lang="ru-RU" dirty="0" err="1"/>
              <a:t>PostgreSQL</a:t>
            </a:r>
            <a:endParaRPr lang="ru-RU" dirty="0"/>
          </a:p>
          <a:p>
            <a:r>
              <a:rPr lang="ru-RU" dirty="0"/>
              <a:t>Взаимодействие через HTTPS</a:t>
            </a:r>
            <a:endParaRPr lang="en-US" dirty="0"/>
          </a:p>
          <a:p>
            <a:r>
              <a:rPr lang="ru-RU" dirty="0"/>
              <a:t>Балансировщик нагрузки: </a:t>
            </a:r>
            <a:r>
              <a:rPr lang="en-US" dirty="0"/>
              <a:t>Nginx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179512" y="116632"/>
            <a:ext cx="8712968" cy="576064"/>
          </a:xfrm>
          <a:prstGeom prst="rect">
            <a:avLst/>
          </a:prstGeom>
        </p:spPr>
        <p:txBody>
          <a:bodyPr>
            <a:normAutofit fontScale="90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Архитектура ИС (диаграмма компонентов)</a:t>
            </a:r>
            <a:endParaRPr kumimoji="0" lang="ru-RU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A720E1-AB1D-0DCB-179A-A082B1CC1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2388" y="940383"/>
            <a:ext cx="4797844" cy="497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16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179512" y="116632"/>
            <a:ext cx="8712968" cy="576064"/>
          </a:xfrm>
          <a:prstGeom prst="rect">
            <a:avLst/>
          </a:prstGeom>
        </p:spPr>
        <p:txBody>
          <a:bodyPr>
            <a:normAutofit fontScale="90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Архитектура ИС (диаграмма развертывания)</a:t>
            </a:r>
            <a:endParaRPr kumimoji="0" lang="ru-RU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999C56-65D6-1221-A787-8B6B3F59F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7162" y="812800"/>
            <a:ext cx="6289675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74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507288" cy="432048"/>
          </a:xfrm>
        </p:spPr>
        <p:txBody>
          <a:bodyPr>
            <a:noAutofit/>
          </a:bodyPr>
          <a:lstStyle/>
          <a:p>
            <a:r>
              <a:rPr lang="ru-RU" sz="2800" dirty="0"/>
              <a:t>Проект графического пользовательского интерфейса</a:t>
            </a: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3" name="Содержимое 3">
            <a:extLst>
              <a:ext uri="{FF2B5EF4-FFF2-40B4-BE49-F238E27FC236}">
                <a16:creationId xmlns:a16="http://schemas.microsoft.com/office/drawing/2014/main" id="{564065BD-4694-E5DF-8E5D-1186C416F98B}"/>
              </a:ext>
            </a:extLst>
          </p:cNvPr>
          <p:cNvSpPr txBox="1">
            <a:spLocks/>
          </p:cNvSpPr>
          <p:nvPr/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Карточки с услугами и мастерами</a:t>
            </a:r>
          </a:p>
          <a:p>
            <a:r>
              <a:rPr lang="ru-RU" dirty="0"/>
              <a:t>Календарь с рабочими днями</a:t>
            </a:r>
          </a:p>
          <a:p>
            <a:r>
              <a:rPr lang="ru-RU" dirty="0"/>
              <a:t>Свободные часы</a:t>
            </a:r>
          </a:p>
          <a:p>
            <a:r>
              <a:rPr lang="ru-RU" dirty="0"/>
              <a:t>Форма с телефоном и ФИО</a:t>
            </a:r>
          </a:p>
        </p:txBody>
      </p:sp>
    </p:spTree>
  </p:cSld>
  <p:clrMapOvr>
    <a:masterClrMapping/>
  </p:clrMapOvr>
  <p:transition>
    <p:spli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507288" cy="432048"/>
          </a:xfrm>
        </p:spPr>
        <p:txBody>
          <a:bodyPr>
            <a:noAutofit/>
          </a:bodyPr>
          <a:lstStyle/>
          <a:p>
            <a:r>
              <a:rPr lang="ru-RU" sz="2800" dirty="0"/>
              <a:t>Проект графического пользовательского интерфейса</a:t>
            </a: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3" name="image1.png" descr="Изображение выглядит как текст, снимок экрана, число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9FBD798-4857-814A-2B79-07B6DD6A51E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360279" y="860921"/>
            <a:ext cx="4145753" cy="588476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06011364"/>
      </p:ext>
    </p:extLst>
  </p:cSld>
  <p:clrMapOvr>
    <a:masterClrMapping/>
  </p:clrMapOvr>
  <p:transition>
    <p:spli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ru-RU" dirty="0"/>
              <a:t>Результаты работы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5199856"/>
          </a:xfrm>
        </p:spPr>
        <p:txBody>
          <a:bodyPr>
            <a:normAutofit/>
          </a:bodyPr>
          <a:lstStyle/>
          <a:p>
            <a:r>
              <a:rPr lang="ru-RU" dirty="0"/>
              <a:t>Выполнен полный цикл проектирования ИС</a:t>
            </a:r>
          </a:p>
          <a:p>
            <a:r>
              <a:rPr lang="ru-RU" dirty="0"/>
              <a:t>Сформированы требования и бизнес-процессы</a:t>
            </a:r>
          </a:p>
          <a:p>
            <a:r>
              <a:rPr lang="ru-RU" dirty="0"/>
              <a:t>Спроектирована база данных</a:t>
            </a:r>
          </a:p>
          <a:p>
            <a:r>
              <a:rPr lang="ru-RU" dirty="0"/>
              <a:t>Разработано техническое задание</a:t>
            </a:r>
          </a:p>
          <a:p>
            <a:r>
              <a:rPr lang="ru-RU" dirty="0"/>
              <a:t>Построены UML-модели</a:t>
            </a:r>
          </a:p>
          <a:p>
            <a:r>
              <a:rPr lang="ru-RU" dirty="0"/>
              <a:t>Получена основа для реализации системы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  <p:transition>
    <p:split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228</TotalTime>
  <Words>493</Words>
  <Application>Microsoft Office PowerPoint</Application>
  <PresentationFormat>Экран (4:3)</PresentationFormat>
  <Paragraphs>123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Calibri</vt:lpstr>
      <vt:lpstr>Constantia</vt:lpstr>
      <vt:lpstr>Times New Roman</vt:lpstr>
      <vt:lpstr>Wingdings 2</vt:lpstr>
      <vt:lpstr>Поток</vt:lpstr>
      <vt:lpstr>Результаты этапа междисциплинарного проекта </vt:lpstr>
      <vt:lpstr>Задание</vt:lpstr>
      <vt:lpstr>Цель и задачи работы</vt:lpstr>
      <vt:lpstr>План проекта</vt:lpstr>
      <vt:lpstr>Модель бизнес-процессов после автоматизации </vt:lpstr>
      <vt:lpstr>Диаграммы процессов</vt:lpstr>
      <vt:lpstr>Диаграммы процессов</vt:lpstr>
      <vt:lpstr>Требования к информационной системе</vt:lpstr>
      <vt:lpstr>Презентация PowerPoint</vt:lpstr>
      <vt:lpstr>Информационная модель</vt:lpstr>
      <vt:lpstr>Информационная модель</vt:lpstr>
      <vt:lpstr>Модель взаимодействия объектов системы</vt:lpstr>
      <vt:lpstr>Модель взаимодействия объектов системы</vt:lpstr>
      <vt:lpstr>Модель деятельности прецедента</vt:lpstr>
      <vt:lpstr>Модель деятельности прецедента</vt:lpstr>
      <vt:lpstr>Презентация PowerPoint</vt:lpstr>
      <vt:lpstr>Презентация PowerPoint</vt:lpstr>
      <vt:lpstr>Презентация PowerPoint</vt:lpstr>
      <vt:lpstr>Проект графического пользовательского интерфейса</vt:lpstr>
      <vt:lpstr>Проект графического пользовательского интерфейса</vt:lpstr>
      <vt:lpstr>Результаты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курсу</dc:title>
  <dc:creator>Стулова Екатерина Сергеевна</dc:creator>
  <cp:lastModifiedBy>michelevd@yandex.com</cp:lastModifiedBy>
  <cp:revision>38</cp:revision>
  <dcterms:created xsi:type="dcterms:W3CDTF">2013-05-24T05:21:34Z</dcterms:created>
  <dcterms:modified xsi:type="dcterms:W3CDTF">2026-05-23T06:03:06Z</dcterms:modified>
</cp:coreProperties>
</file>